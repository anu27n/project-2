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SCHOOL OF COMPUTER SCIENCE ENGINEERING AND INFORMATION SYSTEMS</a:t>
            </a:r>
            <a:br/>
            <a:r>
              <a:t>Winter Semester 2025-26 | BITE498J – Project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Deep Learning-Based Medical Image Analysis</a:t>
            </a:r>
            <a:br/>
            <a:r>
              <a:t>for Early Detection of Diabetic Retinopathy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Student Name: [Your Name]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Register Number: [Your Register Number]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Guide: Dr. Usha 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Introduction to Diabetic Retinopathy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Problem Statement &amp; Motivation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Literature Survey &amp; Research Gap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Project Objectives &amp; Scope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Dataset Description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Proposed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Preprocessing Pipeline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Deep Learning Model (EfficientNet-B4)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Training Strategy &amp; Loss Function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Grad-CAM for Interpretability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Evaluation Metrics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Expected Outcomes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to Diabetic Retinopathy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What is Diabetic Retinopathy?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A diabetes complication affecting blood vessels of the retina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Leading cause of blindness in working-age adults (20-65 years)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Global Statistics (2024)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537 Million people living with diabetes worldwide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Projected to reach 783 Million by 2045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~35% of diabetics develop some form of DR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Up to 95% of vision loss preventable with early detection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DR Severity Levels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0: No DR | 1: Mild | 2: Moderate | 3: Severe | 4: Proliferative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Current Challenges in DR Screening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⏱️ Time-Consuming: Manual screening takes 5-10 minutes per patient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👨‍⚕️ Specialist Shortage: Only 1 ophthalmologist per 100,000 people in many regions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❌ Human Error: 15-30% inter-observer variability in grading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😴 Fatigue Effects: Accuracy decreases after reviewing multiple images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📈 Scalability Issues: Cannot meet growing diabetic population demands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🌍 Healthcare Gaps: Rural areas lack access to specialists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Key Research Question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"How can we develop an automated, accurate, and scalable screening system for diabetic retinopathy that can assist ophthalmologists and improve access in underserved regions?"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Why Automated DR Detection?</a:t>
            </a:r>
          </a:p>
          <a:p>
            <a:pPr>
              <a:spcAft>
                <a:spcPts val="800"/>
              </a:spcAft>
              <a:defRPr b="1" sz="2000">
                <a:solidFill>
                  <a:srgbClr val="404040"/>
                </a:solidFill>
              </a:defRPr>
            </a:pPr>
            <a:r>
              <a:t>Clinical Need: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Early detection prevents 95% of vision loss cases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Reduce screening bottlenecks | ✅ Consistent, reproducible results</a:t>
            </a:r>
          </a:p>
          <a:p>
            <a:br/>
            <a:pPr>
              <a:spcAft>
                <a:spcPts val="800"/>
              </a:spcAft>
              <a:defRPr b="1" sz="2000">
                <a:solidFill>
                  <a:srgbClr val="404040"/>
                </a:solidFill>
              </a:defRPr>
            </a:pPr>
            <a:r>
              <a:t>Technological Enablers: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🔬 Advances in Deep Learning (CNNs, Vision Transformers)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📊 Large annotated datasets (APTOS, EyePACS)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💻 GPU computing accessibility | 🌐 Cloud deployment</a:t>
            </a:r>
          </a:p>
          <a:p>
            <a:br/>
            <a:pPr>
              <a:spcAft>
                <a:spcPts val="800"/>
              </a:spcAft>
              <a:defRPr b="1" sz="2000">
                <a:solidFill>
                  <a:srgbClr val="404040"/>
                </a:solidFill>
              </a:defRPr>
            </a:pPr>
            <a:r>
              <a:t>Societal Impact: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🌍 Improved healthcare accessibility in underserved areas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💰 Reduced screening costs | 👨‍⚕️ Support specialist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Literature Survey - Foundational Works (2016-2019)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Gulshan et al. (Google)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Inception-v3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97.5% sensitivity, 93.4% specificity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Gargeya &amp; Leng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Deep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AUC 0.97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He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Foundation for transfer learning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Tan &amp; 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EfficientNet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State-of-the-art efficiency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Selvaraju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Grad-CAM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Interpretability method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Pratt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CNN for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Pioneer in DR classification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Literature Survey - Recent Advances (2023-2025)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Zhang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Vision Transformer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Chen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EfficientNetV2-L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Zhou et al. (RETFound)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Foundation Model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Kumar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Multi-Task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Patel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MobileViT-DR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Identified Gaps in Current Research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🔸 Class Imbalance: Severe DR only 5.3% of data → Focal Loss + Weighted Sampling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🔸 Generalization: Models fail across different equipment → Robust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🔸 Real-time Processing: Many models too slow for POC → Efficient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🔸 Clinical Integration: Lack of interpretability → Grad-CAM visualization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🔸 Deployment: Research not production-ready → Web-based interface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Our Contribution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Develop a robust, interpretable, and deployment-ready DR screening system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addressing class imbalance, interpretability, and clinical integration gaps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Primary Objective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Develop an automated deep learning system for 5-class classification of diabetic retinopathy severity from retinal fundus images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Secondary Objectives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1️⃣ Implement EfficientNet-B4 with transfer learning from ImageNet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2️⃣ Apply Ben Graham's preprocessing + CLAHE enhancement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3️⃣ Address class imbalance using Focal Loss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4️⃣ Integrate Grad-CAM for clinical interpretability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5️⃣ Create deployment-ready web interface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6️⃣ Achieve Accuracy &gt; 90%, AUC &gt; 0.95, QWK &gt; 0.85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In Scope ✅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Dataset: APTOS 2019 (3,662 images)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Classification: 5-class severity grading (No DR, Mild, Moderate, Severe, Proliferative)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Model: EfficientNet-B4 with custom classification head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Preprocessing: Ben Graham, CLAHE, circle cropping, data augmentation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Interpretability: Grad-CAM heatmap visualization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Deployment: Streamlit web application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Out of Scope ❌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Real-time video processing | Other retinal diseases (Glaucoma, AMD)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Hospital EHR integration | FDA regulatory approval | Mobile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Description - APTOS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No DR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1,805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49.3%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27.3%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Proliferative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Training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End-to-End Pipeline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📥 INPUT: Retinal Fundus Image (RGB, Variable Resolution)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⬇️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🔧 PREPROCESSING: Crop → Resize 512×512 → Ben Graham → CLAHE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⬇️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🔄 AUGMENTATION: Rotation, Flip, Brightness, Noise, CoarseDropout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⬇️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🧠 MODEL: EfficientNet-B4 Backbone + Custom Classification Head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⬇️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📤 OUTPUT: DR Class (0-4) + Confidence Score + Grad-CAM Heatmap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Preprocessing Pipeline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Step-by-Step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1️⃣ Black Border Cropping → Remove irrelevant regions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2️⃣ Resize to 512×512 → Standardize input size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3️⃣ Ben Graham's Method → Enhance local contrast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4️⃣ Circle Cropping → Focus on retinal region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5️⃣ CLAHE Enhancement → Adaptive histogram equalization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6️⃣ Normalization → Scale to [0, 1]</a:t>
            </a:r>
          </a:p>
          <a:p>
            <a:br/>
            <a:pPr>
              <a:spcAft>
                <a:spcPts val="800"/>
              </a:spcAft>
              <a:defRPr b="1" sz="2000">
                <a:solidFill>
                  <a:srgbClr val="404040"/>
                </a:solidFill>
              </a:defRPr>
            </a:pPr>
            <a:r>
              <a:t>Ben Graham's Formula: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Enhanced = 4 × Original - 4 × GaussianBlur(σ=10) + 128</a:t>
            </a:r>
          </a:p>
          <a:p>
            <a:br/>
            <a:pPr>
              <a:spcAft>
                <a:spcPts val="800"/>
              </a:spcAft>
              <a:defRPr b="1" sz="2000">
                <a:solidFill>
                  <a:srgbClr val="404040"/>
                </a:solidFill>
              </a:defRPr>
            </a:pPr>
            <a:r>
              <a:t>CLAHE Parameters: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Clip Limit: 2.0 | Tile Grid: 8×8 | Applied to L channel (LAB)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Deep Learning Model - EfficientNet-B4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Why EfficientNet-B4?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Compound Scaling: Optimal depth, width, resolution balance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Parameters: 19M (manageable for training)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SE Attention: Channel-wise feature recalibration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Transfer Learning: Strong ImageNet pretrained weights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Architecture Details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Input: 512×512×3 RGB image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Backbone: EfficientNet-B4 (7 MBConv blocks, 1792 features)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Head: Dropout(0.4) → Dense(512, ReLU) → Dropout(0.3) → Dense(5, Softmax)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Activation: Swish (backbone), ReLU (head), Softmax (output)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Training Strategy - Three-Phase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Layers Trained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Head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1e-3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Feature extraction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Top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Fine-tuning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All layers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Full optimization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Loss Function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Focal Loss for Class Imbalance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FL(p_t) = -α_t × (1 - p_t)^γ × log(p_t)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α_t: Class weights (inverse frequency)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γ = 2.0: Focusing parameter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Down-weights easy examples, focuses on hard cases (severe DR)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Hyperparameters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Optimizer: AdamW (weight decay: 1e-4)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Batch Size: 16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LR Scheduler: Cosine Annealing with Warm Restarts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Mixed Precision: FP16 for faster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Grad-CAM for Clinical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What is Grad-CAM?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Gradient-weighted Class Activation Mapping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Generates visual explanations for CNN decisions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Highlights regions influencing classification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How It Works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1️⃣ Forward Pass: Get feature maps from last conv layer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2️⃣ Backward Pass: Compute gradients w.r.t. target class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3️⃣ Weight Computation: Global average pooling of gradients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4️⃣ CAM Generation: Weighted combination of activations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Clinical Importance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🔍 Shows which features influenced decision | ✅ Builds clinical trust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Overall correct predictions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90%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Quadratic Weighted Kappa (ordinal)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0.85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Area under ROC curve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0.95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True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85%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True negative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90%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Harmonic mean of precision/recall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0.88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Expected Outcomes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Technical Outcomes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Classification Accuracy: &gt; 90% (Stretch: &gt; 93%)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Quadratic Weighted Kappa: &gt; 0.85 (Stretch: &gt; 0.90)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AUC-ROC: &gt; 0.95 (Stretch: &gt; 0.97)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✅ Inference Time: &lt; 500ms (Stretch: &lt; 200ms)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Project Deliverables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📦 Trained Deep Learning Model (optimized weights)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🌐 Web Application (Streamlit interface)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📄 Technical Report &amp; Research Paper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💻 Well-documented source code (GitHub)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Timeline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Project Timeline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Week 1-2: Setup (Environment, dataset, baseline code)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Week 3-4: Development (Working model, initial results)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Week 5-6: Optimization (Tuned model, ablation studies)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Week 7-8: Evaluation (Complete metrics, Grad-CAM)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Week 9-10: Deployment (Web interface, documentation)</a:t>
            </a:r>
          </a:p>
          <a:p>
            <a:br/>
            <a:pPr>
              <a:spcAft>
                <a:spcPts val="800"/>
              </a:spcAft>
              <a:defRPr b="1" sz="2400">
                <a:solidFill>
                  <a:srgbClr val="0070C0"/>
                </a:solidFill>
              </a:defRPr>
            </a:pPr>
            <a:r>
              <a:t>Conclusion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This project develops a robust, accurate, and interpretable deep learning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system for DR detection using EfficientNet-B4, advanced preprocessing,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and Grad-CAM visualization to create a clinical-grade screening tool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that improves early detection and reduces preventable blindness.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